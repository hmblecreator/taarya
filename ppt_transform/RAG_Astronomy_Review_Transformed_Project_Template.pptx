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90" d="100"/>
          <a:sy n="90" d="100"/>
        </p:scale>
        <p:origin x="147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3;n">
            <a:extLst>
              <a:ext uri="{FF2B5EF4-FFF2-40B4-BE49-F238E27FC236}">
                <a16:creationId xmlns:a16="http://schemas.microsoft.com/office/drawing/2014/main" id="{FFACA05F-8BF4-8388-8557-27E88636E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Google Shape;4;n">
            <a:extLst>
              <a:ext uri="{FF2B5EF4-FFF2-40B4-BE49-F238E27FC236}">
                <a16:creationId xmlns:a16="http://schemas.microsoft.com/office/drawing/2014/main" id="{0E38F0CE-169E-E8B1-9DE4-4B99400924AD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zh-CN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81;p1:notes">
            <a:extLst>
              <a:ext uri="{FF2B5EF4-FFF2-40B4-BE49-F238E27FC236}">
                <a16:creationId xmlns:a16="http://schemas.microsoft.com/office/drawing/2014/main" id="{9508F82F-5BE4-AC04-668C-47EF3453E8A0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altLang="zh-CN" sz="110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099" name="Google Shape;82;p1:notes">
            <a:extLst>
              <a:ext uri="{FF2B5EF4-FFF2-40B4-BE49-F238E27FC236}">
                <a16:creationId xmlns:a16="http://schemas.microsoft.com/office/drawing/2014/main" id="{D222EA2F-9FC6-08CD-A07D-A8F8A6A3B4B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B273C6A6-92BC-7F17-65A9-A8FBB9C264EC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082108EA-965F-C1A0-6049-3ED736DAFC72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A85BF55B-4816-7A29-D0C0-06D918D534A5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2A45D-88EE-4D20-8B13-F1B8DAB0D0F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2372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B1AEB7E1-E464-E5EB-D98B-1596E4E0506C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CD951727-59E3-E5E0-B7CC-C1781D33D895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E97C4A6C-0637-0062-A034-6AC9D03B1788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745F7-3C48-496E-8242-9C3E1E1CCF22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66977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B7A578A5-109F-8BF2-CFE7-852893536C92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F81ABD54-E3D8-2678-FE8E-0F41F2AE06CF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3CCBAB2F-2999-1777-3A6F-435CB4135EEF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EEBE6-302F-44A0-AC65-1728E2F8749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51855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AE046683-7392-E973-279F-9EA2F45B32FB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09C81C4D-E45C-DE10-241D-721A849E8831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34FB9FE8-2DAB-8B47-B302-B31775F2B7CC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9CF6B-DC96-4B91-997B-71A3142955B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85367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E1EE9878-151C-564B-8EC6-0B7B795E422B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B5D54901-6DE2-EFE2-2901-D79DDCB02BCC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B6E7AFA5-4DA8-1D86-CABF-6FFC09168C8B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3170C-D3D2-4176-B7D8-B206AB0F392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6121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A8D7E14-1A6A-D6EF-37E1-D19A05C71655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FB1BC783-1532-B296-89AD-64ED2ED89248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F02EF045-37AC-1B32-A3EC-471DE12F850A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64A0A-EEAA-4EA1-9307-918D88150EA5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10476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;p1">
            <a:extLst>
              <a:ext uri="{FF2B5EF4-FFF2-40B4-BE49-F238E27FC236}">
                <a16:creationId xmlns:a16="http://schemas.microsoft.com/office/drawing/2014/main" id="{7094912B-3FD0-BF38-A651-0C11B9294826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9A617F99-0E58-DB5A-C58D-32CB05D4E565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51FD6815-5DF0-5BC5-1AAA-5C5CE16E6886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144E0F-1B1C-4654-8169-93F1D7E3119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021784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03E9F0FD-47CB-0A4E-F787-2E717366004B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D3ED9283-8309-948B-E781-D63CC949F7F6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04DECC90-C713-9E17-B701-5510B9F34467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2A13B-0B28-405A-B057-3DA33E3FF082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49489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lvl="0"/>
            <a:endParaRPr noProof="0">
              <a:sym typeface="Calibri" panose="020F0502020204030204"/>
            </a:endParaRPr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B6A6D74F-82C7-81BE-20CC-5CF3664116A7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3FCBFE57-1CFE-EFF5-95C9-96D7B8D4CC40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44814ED5-EE00-B145-0324-93C494A2499B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6BD27-78E5-4102-BEBB-82BC35E4FB6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1911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2C8016EE-72EE-8B5C-1D8C-1DF7C361ACEA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16048953-312D-7C1D-5083-EAC76621B207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2064ABBC-9FA8-1240-B58B-BE346EE7F61C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8FD42-F6DF-48FD-9A4C-DD95E4DF3FD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365185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8BBC6DC6-7177-AA0C-8B87-47BDC7BD1CE7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C492B726-00D7-0B47-5A66-AA3F4C30BEB5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8EF2AE14-DC6B-FB4E-3BFE-3AD64F9212B6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734C55-2389-4211-B760-4B5AC8F4C5E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158755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Google Shape;8;p1">
            <a:extLst>
              <a:ext uri="{FF2B5EF4-FFF2-40B4-BE49-F238E27FC236}">
                <a16:creationId xmlns:a16="http://schemas.microsoft.com/office/drawing/2014/main" id="{8E3CE736-323D-E28C-24A6-7A8F5F95D13E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Google Shape;9;p1">
            <a:extLst>
              <a:ext uri="{FF2B5EF4-FFF2-40B4-BE49-F238E27FC236}">
                <a16:creationId xmlns:a16="http://schemas.microsoft.com/office/drawing/2014/main" id="{902E3EE8-8EEC-2DC9-49F5-6B9C41E44717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Google Shape;10;p1">
            <a:extLst>
              <a:ext uri="{FF2B5EF4-FFF2-40B4-BE49-F238E27FC236}">
                <a16:creationId xmlns:a16="http://schemas.microsoft.com/office/drawing/2014/main" id="{B3B4F932-F533-D69A-53FA-993BCE22E213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24507-2E80-44C9-BB61-40CB4CA0828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899513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>
            <a:extLst>
              <a:ext uri="{FF2B5EF4-FFF2-40B4-BE49-F238E27FC236}">
                <a16:creationId xmlns:a16="http://schemas.microsoft.com/office/drawing/2014/main" id="{BB27528E-D1C9-1BB4-F93D-90AF7030F624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zh-CN">
              <a:sym typeface="Arial" panose="020B0604020202020204" pitchFamily="34" charset="0"/>
            </a:endParaRPr>
          </a:p>
        </p:txBody>
      </p:sp>
      <p:sp>
        <p:nvSpPr>
          <p:cNvPr id="1027" name="Google Shape;7;p1">
            <a:extLst>
              <a:ext uri="{FF2B5EF4-FFF2-40B4-BE49-F238E27FC236}">
                <a16:creationId xmlns:a16="http://schemas.microsoft.com/office/drawing/2014/main" id="{88B471FE-3FFB-2420-5D07-6F658BCA5970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zh-CN">
              <a:sym typeface="Arial" panose="020B0604020202020204" pitchFamily="34" charset="0"/>
            </a:endParaRPr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FA2AC7CC-1B02-D5D9-F920-1F6268EB6A7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  <a:noAutofit/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88888"/>
                </a:solidFill>
                <a:latin typeface="Calibri" pitchFamily="34" charset="0"/>
                <a:ea typeface="+mn-ea"/>
                <a:cs typeface="Calibri" pitchFamily="34" charset="0"/>
                <a:sym typeface="Calibri" pitchFamily="34" charset="0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Google Shape;9;p1">
            <a:extLst>
              <a:ext uri="{FF2B5EF4-FFF2-40B4-BE49-F238E27FC236}">
                <a16:creationId xmlns:a16="http://schemas.microsoft.com/office/drawing/2014/main" id="{B5A9FB79-1679-90BC-55E2-33F40269094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  <a:noAutofit/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88888"/>
                </a:solidFill>
                <a:latin typeface="Calibri" pitchFamily="34" charset="0"/>
                <a:ea typeface="+mn-ea"/>
                <a:cs typeface="Calibri" pitchFamily="34" charset="0"/>
                <a:sym typeface="Calibri" pitchFamily="34" charset="0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" name="Google Shape;10;p1">
            <a:extLst>
              <a:ext uri="{FF2B5EF4-FFF2-40B4-BE49-F238E27FC236}">
                <a16:creationId xmlns:a16="http://schemas.microsoft.com/office/drawing/2014/main" id="{8F8F2F77-4C23-220D-078D-4516FB3733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  <a:noAutofit/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fld id="{70597DCB-15E4-4075-B402-5CFBB81C1A9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84;p13">
            <a:extLst>
              <a:ext uri="{FF2B5EF4-FFF2-40B4-BE49-F238E27FC236}">
                <a16:creationId xmlns:a16="http://schemas.microsoft.com/office/drawing/2014/main" id="{843E96BB-6BBF-1649-BB55-DE8D44F84AF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765175"/>
            <a:ext cx="9144000" cy="2387600"/>
          </a:xfrm>
        </p:spPr>
        <p:txBody>
          <a:bodyPr wrap="square" anchor="t"/>
          <a:lstStyle/>
          <a:p>
            <a:pPr algn="l">
              <a:buNone/>
            </a:pPr>
            <a:r>
              <a:rPr sz="3000" b="1" i="0">
                <a:solidFill>
                  <a:srgbClr val="000000"/>
                </a:solidFill>
                <a:latin typeface="Times New Roman"/>
              </a:rPr>
              <a:t>DEVELOPING AN INTELLIGENT</a:t>
            </a:r>
          </a:p>
          <a:p>
            <a:pPr algn="l">
              <a:buNone/>
            </a:pPr>
            <a:r>
              <a:rPr sz="3000" b="1" i="0">
                <a:solidFill>
                  <a:srgbClr val="000000"/>
                </a:solidFill>
                <a:latin typeface="Times New Roman"/>
              </a:rPr>
              <a:t>RAG-DRIVEN ARCHITECTURE</a:t>
            </a:r>
          </a:p>
          <a:p>
            <a:pPr algn="l">
              <a:buNone/>
            </a:pPr>
            <a:r>
              <a:rPr sz="3000" b="1" i="0">
                <a:solidFill>
                  <a:srgbClr val="000000"/>
                </a:solidFill>
                <a:latin typeface="Times New Roman"/>
              </a:rPr>
              <a:t>FOR ASTRONOMICAL STAR CATALOGS</a:t>
            </a:r>
          </a:p>
        </p:txBody>
      </p:sp>
      <p:sp>
        <p:nvSpPr>
          <p:cNvPr id="13315" name="Google Shape;85;p13">
            <a:extLst>
              <a:ext uri="{FF2B5EF4-FFF2-40B4-BE49-F238E27FC236}">
                <a16:creationId xmlns:a16="http://schemas.microsoft.com/office/drawing/2014/main" id="{B29E3FD8-7DFA-8F07-C513-852743EC5A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8763" y="3429000"/>
            <a:ext cx="9144000" cy="2952750"/>
          </a:xfrm>
        </p:spPr>
        <p:txBody>
          <a:bodyPr/>
          <a:lstStyle/>
          <a:p>
            <a:endParaRPr/>
          </a:p>
        </p:txBody>
      </p:sp>
      <p:sp>
        <p:nvSpPr>
          <p:cNvPr id="13316" name="TextBox 13315"/>
          <p:cNvSpPr txBox="1"/>
          <p:nvPr/>
        </p:nvSpPr>
        <p:spPr>
          <a:xfrm>
            <a:off x="3840480" y="324612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Presented By</a:t>
            </a:r>
          </a:p>
        </p:txBody>
      </p:sp>
      <p:sp>
        <p:nvSpPr>
          <p:cNvPr id="13317" name="TextBox 13316"/>
          <p:cNvSpPr txBox="1"/>
          <p:nvPr/>
        </p:nvSpPr>
        <p:spPr>
          <a:xfrm>
            <a:off x="1417320" y="402336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Amit Kumar</a:t>
            </a:r>
          </a:p>
          <a:p>
            <a:pPr algn="l"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Roll No: 14618002722</a:t>
            </a:r>
          </a:p>
        </p:txBody>
      </p:sp>
      <p:sp>
        <p:nvSpPr>
          <p:cNvPr id="13318" name="TextBox 13317"/>
          <p:cNvSpPr txBox="1"/>
          <p:nvPr/>
        </p:nvSpPr>
        <p:spPr>
          <a:xfrm>
            <a:off x="7498079" y="3977639"/>
            <a:ext cx="28346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Under Guidance of</a:t>
            </a:r>
          </a:p>
          <a:p>
            <a:pPr algn="l"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Dr. Madhumita Mahapatra</a:t>
            </a:r>
          </a:p>
          <a:p>
            <a:pPr algn="l"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Professor, CSE</a:t>
            </a:r>
          </a:p>
        </p:txBody>
      </p:sp>
      <p:sp>
        <p:nvSpPr>
          <p:cNvPr id="13319" name="TextBox 13318"/>
          <p:cNvSpPr txBox="1"/>
          <p:nvPr/>
        </p:nvSpPr>
        <p:spPr>
          <a:xfrm>
            <a:off x="3749039" y="598932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Session 2025-2026 (Even SEM)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C2AA3607-A927-7CF8-BDD7-D97582006C7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898525"/>
          </a:xfrm>
        </p:spPr>
        <p:txBody>
          <a:bodyPr wrap="square" anchor="t"/>
          <a:lstStyle/>
          <a:p>
            <a:pPr algn="l">
              <a:buNone/>
            </a:pPr>
            <a:r>
              <a:rPr sz="3200" b="1" i="0">
                <a:solidFill>
                  <a:srgbClr val="000000"/>
                </a:solidFill>
                <a:latin typeface="Times New Roman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4B3AC-38C5-1543-4005-2D8596106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630" y="1052835"/>
            <a:ext cx="9432655" cy="4819650"/>
          </a:xfrm>
        </p:spPr>
        <p:txBody>
          <a:bodyPr wrap="square" anchor="t"/>
          <a:lstStyle/>
          <a:p>
            <a:pPr algn="l" eaLnBrk="1" hangingPunct="1">
              <a:buNone/>
              <a:defRPr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1. Introduction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2. Problem Definition</a:t>
            </a: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3. Feasibility Study</a:t>
            </a: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4. Need and Significance</a:t>
            </a: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5. Objectives</a:t>
            </a: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6. Literature Survey</a:t>
            </a: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7. Design Analysis / Diagrams</a:t>
            </a: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8. Proposed Methodology in Brief</a:t>
            </a: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9. Hardware and Software Requirements</a:t>
            </a: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10. Running Project and Implementation</a:t>
            </a: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11. Screen shots</a:t>
            </a: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12. Scope of the Project</a:t>
            </a: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13. Conclusion and Future Work</a:t>
            </a:r>
          </a:p>
          <a:p>
            <a:pPr algn="l"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14.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>
                <a:solidFill>
                  <a:srgbClr val="000000"/>
                </a:solidFill>
                <a:latin typeface="Times New Roman"/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578100" cy="4351338"/>
          </a:xfrm>
        </p:spPr>
        <p:txBody>
          <a:bodyPr wrap="square" anchor="t"/>
          <a:lstStyle/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Petabyte-scale sky surveys such as Gaia and Vera C. Rubin have made astronomy a data-rich science with billions of stellar records.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Researchers still work across siloed systems, switching manually between 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ADQL/SQL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-based catalog search and keyword-based literature search.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Retrieval-Augmented Generation (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RAG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) can unify these workflows by grounding large language models in astronomical catalogs and research papers.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The proposed system acts as an intelligent co-pilot capable of natural-language querying, 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ADQL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 execution, and multi-step reasoning.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Key data sources: 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Gaia DR3, SIMBAD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, curated </a:t>
            </a:r>
            <a:r>
              <a:rPr sz="1800" b="1" i="0" dirty="0" err="1">
                <a:solidFill>
                  <a:srgbClr val="000000"/>
                </a:solidFill>
                <a:latin typeface="Times New Roman"/>
              </a:rPr>
              <a:t>ArXiv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astrophysics papers, and </a:t>
            </a:r>
            <a:r>
              <a:rPr sz="1800" b="1" i="0" dirty="0" err="1">
                <a:solidFill>
                  <a:srgbClr val="000000"/>
                </a:solidFill>
                <a:latin typeface="Times New Roman"/>
              </a:rPr>
              <a:t>Astropy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-powered analysis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>
                <a:solidFill>
                  <a:srgbClr val="000000"/>
                </a:solidFill>
                <a:latin typeface="Times New Roman"/>
              </a:rPr>
              <a:t>Problem Definition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t"/>
          <a:lstStyle/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No unified interface exists for querying SIMBAD, Gaia, and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</a:rPr>
              <a:t>ArXiv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 together in one research workflow.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Students and early-career researchers face a technical barrier because ADQL/SQL tooling is rigid and difficult to learn.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Standard semantic chunking misses the geometric and spatial relationships needed for cone searches and astronomical reasoning.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Traditional RAG pipelines struggle with relational and multi-hop reasoning across observations, papers, and catalog entities.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Current systems lack agentic capabilities for planning research steps, selecting tools, and verifying answers against source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>
                <a:solidFill>
                  <a:srgbClr val="000000"/>
                </a:solidFill>
                <a:latin typeface="Times New Roman"/>
              </a:rPr>
              <a:t>Feasibility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650105" cy="4351338"/>
          </a:xfrm>
        </p:spPr>
        <p:txBody>
          <a:bodyPr wrap="square" anchor="t"/>
          <a:lstStyle/>
          <a:p>
            <a:pPr algn="l">
              <a:buNone/>
            </a:pPr>
            <a:r>
              <a:rPr sz="1700" b="1" i="0" dirty="0">
                <a:solidFill>
                  <a:srgbClr val="000000"/>
                </a:solidFill>
                <a:latin typeface="Times New Roman"/>
              </a:rPr>
              <a:t>Technical Feasibility</a:t>
            </a:r>
          </a:p>
          <a:p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LangChain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and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LlamaIndex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support agentic orchestration.</a:t>
            </a:r>
          </a:p>
          <a:p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Astropy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and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astroquery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support Gaia and SIMBAD integration.</a:t>
            </a:r>
          </a:p>
          <a:p>
            <a:r>
              <a:rPr sz="1700" b="0" i="0" dirty="0">
                <a:solidFill>
                  <a:srgbClr val="000000"/>
                </a:solidFill>
                <a:latin typeface="Times New Roman"/>
              </a:rPr>
              <a:t>Neo4j and PostgreSQL with Q3C provide graph and spatial indexing at scale.</a:t>
            </a:r>
            <a:endParaRPr lang="en-US" sz="1700" b="0" i="0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</a:pPr>
            <a:endParaRPr sz="17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buNone/>
            </a:pPr>
            <a:r>
              <a:rPr sz="1700" b="1" i="0" dirty="0">
                <a:solidFill>
                  <a:srgbClr val="000000"/>
                </a:solidFill>
                <a:latin typeface="Times New Roman"/>
              </a:rPr>
              <a:t>Economic / Operational Feasibility</a:t>
            </a:r>
          </a:p>
          <a:p>
            <a:r>
              <a:rPr sz="1700" b="0" i="0" dirty="0">
                <a:solidFill>
                  <a:srgbClr val="000000"/>
                </a:solidFill>
                <a:latin typeface="Times New Roman"/>
              </a:rPr>
              <a:t>Open-source models and public datasets keep the solution cost-effective and practical for academic deployment.</a:t>
            </a:r>
          </a:p>
          <a:p>
            <a:r>
              <a:rPr sz="1700" b="0" i="0" dirty="0">
                <a:solidFill>
                  <a:srgbClr val="000000"/>
                </a:solidFill>
                <a:latin typeface="Times New Roman"/>
              </a:rPr>
              <a:t>A web-based modular architecture supports incremental rollout from core search to full agentic features.</a:t>
            </a:r>
            <a:endParaRPr lang="en-US" sz="1700" b="0" i="0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</a:pPr>
            <a:endParaRPr sz="1700" b="0" i="0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</a:pPr>
            <a:r>
              <a:rPr sz="1700" b="1" i="0" dirty="0">
                <a:solidFill>
                  <a:srgbClr val="000000"/>
                </a:solidFill>
                <a:latin typeface="Times New Roman"/>
              </a:rPr>
              <a:t>Schedule Feasibility</a:t>
            </a:r>
          </a:p>
          <a:p>
            <a:pPr algn="l">
              <a:buNone/>
            </a:pPr>
            <a:r>
              <a:rPr lang="en-US" sz="1700" b="0" i="0" dirty="0">
                <a:solidFill>
                  <a:srgbClr val="000000"/>
                </a:solidFill>
                <a:latin typeface="Times New Roman"/>
              </a:rPr>
              <a:t>	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Month 1: literature review and connectors; </a:t>
            </a:r>
            <a:br>
              <a:rPr lang="en-US" sz="1700" dirty="0">
                <a:latin typeface="Times New Roman"/>
              </a:rPr>
            </a:br>
            <a:r>
              <a:rPr sz="1700" b="0" i="0" dirty="0">
                <a:solidFill>
                  <a:srgbClr val="000000"/>
                </a:solidFill>
                <a:latin typeface="Times New Roman"/>
              </a:rPr>
              <a:t>Month 2: ingestion and indexing; </a:t>
            </a:r>
            <a:br>
              <a:rPr lang="en-US" sz="1700" b="0" i="0" dirty="0">
                <a:solidFill>
                  <a:srgbClr val="000000"/>
                </a:solidFill>
                <a:latin typeface="Times New Roman"/>
              </a:rPr>
            </a:br>
            <a:r>
              <a:rPr sz="1700" b="0" i="0" dirty="0">
                <a:solidFill>
                  <a:srgbClr val="000000"/>
                </a:solidFill>
                <a:latin typeface="Times New Roman"/>
              </a:rPr>
              <a:t>Month 3: graph and agentic core; </a:t>
            </a:r>
            <a:br>
              <a:rPr lang="en-US" sz="1700" b="0" i="0" dirty="0">
                <a:solidFill>
                  <a:srgbClr val="000000"/>
                </a:solidFill>
                <a:latin typeface="Times New Roman"/>
              </a:rPr>
            </a:br>
            <a:r>
              <a:rPr sz="1700" b="0" i="0" dirty="0">
                <a:solidFill>
                  <a:srgbClr val="000000"/>
                </a:solidFill>
                <a:latin typeface="Times New Roman"/>
              </a:rPr>
              <a:t>Month 4: integration and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>
                <a:solidFill>
                  <a:srgbClr val="000000"/>
                </a:solidFill>
                <a:latin typeface="Times New Roman"/>
              </a:rPr>
              <a:t>Need and Significance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434090" cy="4351338"/>
          </a:xfrm>
        </p:spPr>
        <p:txBody>
          <a:bodyPr wrap="square" anchor="t"/>
          <a:lstStyle/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Modern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</a:rPr>
              <a:t>astroinformatics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 produces data volumes too large for manual exploration, making intelligent retrieval essential.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For researchers: the system creates a unified data-to-discovery interface that links catalogs and literature in one workflow.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For education: students can work in plain English instead of depending on advanced ADQL or scripting expertise.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For the field: the project combines SQL precision, vector semantics, and graph logic into a scientific AI methodology.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As a future-facing contribution, the architecture aligns with Reasoning Language Models that actively navigate data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>
                <a:solidFill>
                  <a:srgbClr val="000000"/>
                </a:solidFill>
                <a:latin typeface="Times New Roman"/>
              </a:rP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290080" cy="4351338"/>
          </a:xfrm>
        </p:spPr>
        <p:txBody>
          <a:bodyPr wrap="square" anchor="t"/>
          <a:lstStyle/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1. Build a multi-modal ingestion engine for FITS/CSV catalogs,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ArXiv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PDFs, and observational metadata.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2. Create a hybrid indexing system using dense vectors, BM25 keyword retrieval, and Q3C spatial indexing.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3. Construct a knowledge graph linking stars, papers, catalogs, and cross-matched entities.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4. Develop an agentic reasoning core for query decomposition, tool selection, and execution.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5. Enable code execution with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Astropy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and Pandas for on-the-fly analysis and plotting.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6. Add a verification and synthesis layer that checks answers against catalog values and produces cited responses.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7. Evaluate the system with astronomy-adapted RAG benchmarks and retrieval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>
                <a:solidFill>
                  <a:srgbClr val="000000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434090" cy="4351338"/>
          </a:xfrm>
        </p:spPr>
        <p:txBody>
          <a:bodyPr wrap="square" anchor="t"/>
          <a:lstStyle/>
          <a:p>
            <a:r>
              <a:rPr sz="1700" b="0" i="0" dirty="0">
                <a:solidFill>
                  <a:srgbClr val="000000"/>
                </a:solidFill>
                <a:latin typeface="Times New Roman"/>
              </a:rPr>
              <a:t>Lewis et al. established the foundational RAG framework for grounding LLMs in external knowledge bases.</a:t>
            </a:r>
          </a:p>
          <a:p>
            <a:r>
              <a:rPr sz="1700" b="0" i="0" dirty="0">
                <a:solidFill>
                  <a:srgbClr val="000000"/>
                </a:solidFill>
                <a:latin typeface="Times New Roman"/>
              </a:rPr>
              <a:t>Gao et al. organized RAG systems into a progression from naive to advanced, modular, and agentic architectures.</a:t>
            </a:r>
          </a:p>
          <a:p>
            <a:r>
              <a:rPr sz="1700" b="0" i="0" dirty="0">
                <a:solidFill>
                  <a:srgbClr val="000000"/>
                </a:solidFill>
                <a:latin typeface="Times New Roman"/>
              </a:rPr>
              <a:t>Edelman et al. introduced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GraphRAG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to capture relational structure that vector-only retrieval often misses.</a:t>
            </a:r>
          </a:p>
          <a:p>
            <a:r>
              <a:rPr sz="1700" b="0" i="0" dirty="0">
                <a:solidFill>
                  <a:srgbClr val="000000"/>
                </a:solidFill>
                <a:latin typeface="Times New Roman"/>
              </a:rPr>
              <a:t>Prior star-catalog work shows the shift from positional lists to multidimensional databases with Q3C-style spatial indexing.</a:t>
            </a:r>
          </a:p>
          <a:p>
            <a:r>
              <a:rPr sz="1700" b="0" i="0" dirty="0">
                <a:solidFill>
                  <a:srgbClr val="000000"/>
                </a:solidFill>
                <a:latin typeface="Times New Roman"/>
              </a:rPr>
              <a:t>Recent Reasoning Language Model work highlights iterative tool use and deliberate search strategies for complex tasks.</a:t>
            </a:r>
          </a:p>
          <a:p>
            <a:r>
              <a:rPr sz="1700" b="0" i="0" dirty="0">
                <a:solidFill>
                  <a:srgbClr val="000000"/>
                </a:solidFill>
                <a:latin typeface="Times New Roman"/>
              </a:rPr>
              <a:t>Proposed improvements: agentic tool use, hybrid indexing, graph-enhanced reasoning, and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Astropy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-driven interaction with astronomy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>
                <a:solidFill>
                  <a:srgbClr val="000000"/>
                </a:solidFill>
                <a:latin typeface="Times New Roman"/>
              </a:rPr>
              <a:t>Design Analysis / Diagrams</a:t>
            </a:r>
          </a:p>
        </p:txBody>
      </p:sp>
      <p:pic>
        <p:nvPicPr>
          <p:cNvPr id="3" name="Picture 2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246888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517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Class Diagram</a:t>
            </a:r>
          </a:p>
        </p:txBody>
      </p:sp>
      <p:pic>
        <p:nvPicPr>
          <p:cNvPr id="5" name="Picture 4" descr="use_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234440"/>
            <a:ext cx="246888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6200" y="26517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Use Case Diagram</a:t>
            </a:r>
          </a:p>
        </p:txBody>
      </p:sp>
      <p:pic>
        <p:nvPicPr>
          <p:cNvPr id="7" name="Picture 6" descr="dfd_level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234440"/>
            <a:ext cx="24688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26517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DFD Level 0</a:t>
            </a:r>
          </a:p>
        </p:txBody>
      </p:sp>
      <p:pic>
        <p:nvPicPr>
          <p:cNvPr id="9" name="Picture 8" descr="dfd_level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703320"/>
            <a:ext cx="246888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1206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DFD Level 1</a:t>
            </a:r>
          </a:p>
        </p:txBody>
      </p:sp>
      <p:pic>
        <p:nvPicPr>
          <p:cNvPr id="11" name="Picture 10" descr="dfd_level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3703320"/>
            <a:ext cx="2468880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86200" y="51206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DFD Level 2</a:t>
            </a:r>
          </a:p>
        </p:txBody>
      </p:sp>
      <p:pic>
        <p:nvPicPr>
          <p:cNvPr id="13" name="Picture 12" descr="er_dia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3703320"/>
            <a:ext cx="246888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03720" y="51206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E-R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 dirty="0">
                <a:solidFill>
                  <a:srgbClr val="000000"/>
                </a:solidFill>
                <a:latin typeface="Times New Roman"/>
              </a:rPr>
              <a:t>Proposed Methodology in Brief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858050" cy="4351338"/>
          </a:xfrm>
        </p:spPr>
        <p:txBody>
          <a:bodyPr wrap="square" anchor="t"/>
          <a:lstStyle/>
          <a:p>
            <a:pPr algn="l">
              <a:buNone/>
            </a:pPr>
            <a:r>
              <a:rPr sz="1700" b="1" i="0" dirty="0">
                <a:solidFill>
                  <a:srgbClr val="000000"/>
                </a:solidFill>
                <a:latin typeface="Times New Roman"/>
              </a:rPr>
              <a:t>M1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: Multi-Modal Ingestion Engine for </a:t>
            </a:r>
            <a:r>
              <a:rPr sz="1700" b="1" i="0" dirty="0">
                <a:solidFill>
                  <a:srgbClr val="000000"/>
                </a:solidFill>
                <a:latin typeface="Times New Roman"/>
              </a:rPr>
              <a:t>FITS/CSV files, </a:t>
            </a:r>
            <a:r>
              <a:rPr sz="1700" b="1" i="0" dirty="0" err="1">
                <a:solidFill>
                  <a:srgbClr val="000000"/>
                </a:solidFill>
                <a:latin typeface="Times New Roman"/>
              </a:rPr>
              <a:t>ArXiv</a:t>
            </a:r>
            <a:r>
              <a:rPr sz="1700" b="1" i="0" dirty="0">
                <a:solidFill>
                  <a:srgbClr val="000000"/>
                </a:solidFill>
                <a:latin typeface="Times New Roman"/>
              </a:rPr>
              <a:t> PDFs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, and entity extraction.</a:t>
            </a:r>
          </a:p>
          <a:p>
            <a:pPr algn="l">
              <a:buNone/>
            </a:pPr>
            <a:r>
              <a:rPr sz="1700" b="1" i="0" dirty="0">
                <a:solidFill>
                  <a:srgbClr val="000000"/>
                </a:solidFill>
                <a:latin typeface="Times New Roman"/>
              </a:rPr>
              <a:t>M2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: Hybrid Indexing System combining </a:t>
            </a:r>
            <a:r>
              <a:rPr sz="1700" b="1" i="0" dirty="0">
                <a:solidFill>
                  <a:srgbClr val="000000"/>
                </a:solidFill>
                <a:latin typeface="Times New Roman"/>
              </a:rPr>
              <a:t>dense vectors, BM25 retrieval, and Q3C 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spatial indexing.</a:t>
            </a:r>
          </a:p>
          <a:p>
            <a:pPr algn="l">
              <a:buNone/>
            </a:pPr>
            <a:r>
              <a:rPr sz="1700" b="1" i="0" dirty="0">
                <a:solidFill>
                  <a:srgbClr val="000000"/>
                </a:solidFill>
                <a:latin typeface="Times New Roman"/>
              </a:rPr>
              <a:t>M3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: Knowledge Graph Constructor with nodes such as stars, papers, and catalogs, plus cross-reference edges.</a:t>
            </a:r>
          </a:p>
          <a:p>
            <a:pPr algn="l">
              <a:buNone/>
            </a:pPr>
            <a:r>
              <a:rPr sz="1700" b="1" i="0" dirty="0">
                <a:solidFill>
                  <a:srgbClr val="000000"/>
                </a:solidFill>
                <a:latin typeface="Times New Roman"/>
              </a:rPr>
              <a:t>M4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: Agentic Reasoning Core for query planning, tool routing, and execution.</a:t>
            </a:r>
          </a:p>
          <a:p>
            <a:pPr algn="l">
              <a:buNone/>
            </a:pPr>
            <a:r>
              <a:rPr sz="1700" b="1" i="0" dirty="0">
                <a:solidFill>
                  <a:srgbClr val="000000"/>
                </a:solidFill>
                <a:latin typeface="Times New Roman"/>
              </a:rPr>
              <a:t>M5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: Verification and Synthesis Layer for hallucination checking and citation generation.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Non-functional goal</a:t>
            </a:r>
            <a:r>
              <a:rPr lang="en-US" sz="1700" b="0" i="0" dirty="0">
                <a:solidFill>
                  <a:srgbClr val="000000"/>
                </a:solidFill>
                <a:latin typeface="Times New Roman"/>
              </a:rPr>
              <a:t>s:</a:t>
            </a:r>
            <a:r>
              <a:rPr sz="1700" b="1" i="0" dirty="0">
                <a:solidFill>
                  <a:srgbClr val="000000"/>
                </a:solidFill>
                <a:latin typeface="Times New Roman"/>
              </a:rPr>
              <a:t> ADQL/SQL 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latency below 3 seconds, precise cone-search accuracy, and a student-friendly natural-language 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 dirty="0">
                <a:solidFill>
                  <a:srgbClr val="000000"/>
                </a:solidFill>
                <a:latin typeface="Times New Roman"/>
              </a:rPr>
              <a:t>Hardware and Software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1700" b="1" i="0" dirty="0">
                <a:solidFill>
                  <a:srgbClr val="000000"/>
                </a:solidFill>
                <a:latin typeface="Times New Roman"/>
              </a:rPr>
              <a:t>Hardware Requirements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Server RAM: 16 GB minimum for vector database operations.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GPU: NVIDIA T4 optional for local LLM hosting and experimentation.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Storage: 500 GB SSD for Gaia catalog subsets and intermediate artifacts.</a:t>
            </a:r>
            <a:endParaRPr lang="en-US" sz="17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buNone/>
            </a:pPr>
            <a:endParaRPr sz="17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buNone/>
            </a:pPr>
            <a:r>
              <a:rPr sz="1700" b="1" i="0" dirty="0">
                <a:solidFill>
                  <a:srgbClr val="000000"/>
                </a:solidFill>
                <a:latin typeface="Times New Roman"/>
              </a:rPr>
              <a:t>Software Requirements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Backend: Python 3.9+ with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FastAPI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LLM Layer: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LangChain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/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LlamaIndex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Databases: Neo4j, PostgreSQL + Q3C, and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Qdrant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Libraries: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Astropy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, Pandas, Matplotlib, and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astroquery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>
                <a:solidFill>
                  <a:srgbClr val="000000"/>
                </a:solidFill>
                <a:latin typeface="Times New Roman"/>
              </a:rPr>
              <a:t>Running Project and Implementation</a:t>
            </a:r>
          </a:p>
        </p:txBody>
      </p:sp>
      <p:pic>
        <p:nvPicPr>
          <p:cNvPr id="3" name="Picture 2" descr="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43000"/>
            <a:ext cx="964692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754880"/>
            <a:ext cx="4480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Current Development Status</a:t>
            </a:r>
          </a:p>
          <a:p>
            <a:pPr algn="l">
              <a:buNone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Data Ingestion Engine — 90%</a:t>
            </a:r>
          </a:p>
          <a:p>
            <a:pPr algn="l">
              <a:buNone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Vector Store Integration — 80%</a:t>
            </a:r>
          </a:p>
          <a:p>
            <a:pPr algn="l">
              <a:buNone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ADQL/SQL Query Generator — 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4754880"/>
            <a:ext cx="4480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Knowledge Graph (Neo4j) — 70%</a:t>
            </a:r>
          </a:p>
          <a:p>
            <a:pPr algn="l">
              <a:buNone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Agentic Reasoning Core — 70%</a:t>
            </a:r>
          </a:p>
          <a:p>
            <a:pPr algn="l">
              <a:buNone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UI / Frontend — 60%</a:t>
            </a:r>
          </a:p>
          <a:p>
            <a:pPr algn="l">
              <a:buNone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Minimum review milestone target: 70% complete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>
                <a:solidFill>
                  <a:srgbClr val="000000"/>
                </a:solidFill>
                <a:latin typeface="Times New Roman"/>
              </a:rPr>
              <a:t>Screen shots</a:t>
            </a:r>
          </a:p>
        </p:txBody>
      </p:sp>
      <p:pic>
        <p:nvPicPr>
          <p:cNvPr id="3" name="Picture 2" descr="chat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416052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264408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Chat Interface</a:t>
            </a:r>
          </a:p>
        </p:txBody>
      </p:sp>
      <p:pic>
        <p:nvPicPr>
          <p:cNvPr id="5" name="Picture 4" descr="spatial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234440"/>
            <a:ext cx="416052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32120" y="3264408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Spatial Explorer</a:t>
            </a:r>
          </a:p>
        </p:txBody>
      </p:sp>
      <p:pic>
        <p:nvPicPr>
          <p:cNvPr id="7" name="Picture 6" descr="query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57600"/>
            <a:ext cx="416052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687568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Query Results</a:t>
            </a:r>
          </a:p>
        </p:txBody>
      </p:sp>
      <p:pic>
        <p:nvPicPr>
          <p:cNvPr id="9" name="Picture 8" descr="system_stat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657600"/>
            <a:ext cx="416052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32120" y="5687568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System 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>
                <a:solidFill>
                  <a:srgbClr val="000000"/>
                </a:solidFill>
                <a:latin typeface="Times New Roman"/>
              </a:rPr>
              <a:t>Scope of the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t"/>
          <a:lstStyle/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Domain scope includes Gaia DR3 catalogs, SIMBAD records, and a curated set of astrophysics papers from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</a:rPr>
              <a:t>ArXiv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Functional scope covers natural-language querying, catalog lookup, literature synthesis, hybrid retrieval, graph reasoning, and result export.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Analytical scope includes spatial search, cross-referencing of catalog entities, and code-assisted statistical analysis through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</a:rPr>
              <a:t>Astropy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/Pandas.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Deployment scope is a web-based academic research assistant designed for researchers and students in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</a:rPr>
              <a:t>astroinformatics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 workflows.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 dirty="0">
                <a:solidFill>
                  <a:srgbClr val="000000"/>
                </a:solidFill>
                <a:latin typeface="Times New Roman"/>
              </a:rPr>
              <a:t>Conclusion and 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434090" cy="4351338"/>
          </a:xfrm>
        </p:spPr>
        <p:txBody>
          <a:bodyPr wrap="square" anchor="t"/>
          <a:lstStyle/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The proposed RAG-driven architecture addresses a real astronomy workflow gap by unifying data</a:t>
            </a:r>
            <a:r>
              <a:rPr lang="en-US" sz="18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retrieval, literature search, and reasoning.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A hybrid approach combining vector retrieval, spatial indexing, knowledge graphs, and agentic tool use is well-suited to star-catalog research.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Prototype progress already demonstrates strong momentum in ingestion, retrieval, graph construction, and interface development.</a:t>
            </a:r>
          </a:p>
          <a:p>
            <a:r>
              <a:rPr sz="1800" b="0" i="0" dirty="0">
                <a:solidFill>
                  <a:srgbClr val="000000"/>
                </a:solidFill>
                <a:latin typeface="Times New Roman"/>
              </a:rPr>
              <a:t>Future work includes completing the ADQL generation pipeline, expanding benchmark evaluation, broadening catalog coverage, and refining the end-user interface.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200" b="1" i="0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[1] Gao, Y., et al. Retrieval-Augmented Generation for Large Language Models: A Comprehensive Review. arXiv:2312.10997, 2024.</a:t>
            </a:r>
          </a:p>
          <a:p>
            <a:pPr algn="l">
              <a:buNone/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[2] Lewis, P., et al. Retrieval-Augmented Generation for Knowledge-Intensive NLP. NeurIPS, 2020.</a:t>
            </a:r>
          </a:p>
          <a:p>
            <a:pPr algn="l">
              <a:buNone/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[3] Edelman, G., et al. GraphRAG: Towards Graph-Based Retrieval-Augmented Generation. arXiv:2404.16130, 2024.</a:t>
            </a:r>
          </a:p>
          <a:p>
            <a:pPr algn="l">
              <a:buNone/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[4] The Digital Architecture of the Heavens: A Comprehensive Analysis of Star Catalogs. arXiv:2501.00000, 2025.</a:t>
            </a:r>
          </a:p>
          <a:p>
            <a:pPr algn="l">
              <a:buNone/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[5] A Comprehensive Report on Reasoning Language Models (RLMs). arXiv:2512.24601, 2025.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[6] Vaswani, A., et al. Attention Is All You Need. NeurIPS, 2017.</a:t>
            </a:r>
          </a:p>
          <a:p>
            <a:pPr algn="l">
              <a:buNone/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[7] Brown, T., et al. Language Models are Few-Shot Learners. NeurIPS, 2020.</a:t>
            </a:r>
          </a:p>
          <a:p>
            <a:pPr algn="l">
              <a:buNone/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[8] Koposov, S., et al. Q3C, a Quad Tree Cube. Astronomy and Computing, 2010.</a:t>
            </a:r>
          </a:p>
          <a:p>
            <a:pPr algn="l">
              <a:buNone/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[9] Gaia Collaboration. Gaia Data Release 3 Documentation.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anchor="t"/>
          <a:lstStyle/>
          <a:p>
            <a:pPr algn="l">
              <a:buNone/>
            </a:pPr>
            <a:r>
              <a:rPr sz="3400" b="1" i="0" dirty="0">
                <a:solidFill>
                  <a:srgbClr val="000000"/>
                </a:solidFill>
                <a:latin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745" y="2961323"/>
            <a:ext cx="6400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Amit Kumar  |  </a:t>
            </a:r>
            <a:r>
              <a:rPr lang="en-US" sz="1700" b="0" i="0" dirty="0">
                <a:solidFill>
                  <a:srgbClr val="000000"/>
                </a:solidFill>
                <a:latin typeface="Times New Roman"/>
              </a:rPr>
              <a:t>R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oll No: 14618002722</a:t>
            </a:r>
          </a:p>
          <a:p>
            <a:pPr algn="ctr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Guide: Dr. Madhumita Mahapatra</a:t>
            </a:r>
          </a:p>
          <a:p>
            <a:pPr algn="ctr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Delhi Technical Campus, Greater Noida</a:t>
            </a:r>
          </a:p>
          <a:p>
            <a:pPr algn="ctr"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Session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1404</Words>
  <Application>Microsoft Office PowerPoint</Application>
  <PresentationFormat>Widescreen</PresentationFormat>
  <Paragraphs>134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DEVELOPING AN INTELLIGENT RAG-DRIVEN ARCHITECTURE FOR ASTRONOMICAL STAR CATALOGS</vt:lpstr>
      <vt:lpstr>Content</vt:lpstr>
      <vt:lpstr>Introduction</vt:lpstr>
      <vt:lpstr>Problem Definition</vt:lpstr>
      <vt:lpstr>Feasibility Study</vt:lpstr>
      <vt:lpstr>Need and Significance</vt:lpstr>
      <vt:lpstr>Objectives</vt:lpstr>
      <vt:lpstr>Literature Survey</vt:lpstr>
      <vt:lpstr>Design Analysis / Diagrams</vt:lpstr>
      <vt:lpstr>Proposed Methodology in Brief</vt:lpstr>
      <vt:lpstr>Hardware and Software Requirements</vt:lpstr>
      <vt:lpstr>Running Project and Implementation</vt:lpstr>
      <vt:lpstr>Screen shots</vt:lpstr>
      <vt:lpstr>Scope of the Project</vt:lpstr>
      <vt:lpstr>Conclusion and 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-CIC 211</dc:title>
  <dc:creator>MISHRA</dc:creator>
  <cp:lastModifiedBy>Amit Kumar</cp:lastModifiedBy>
  <cp:revision>32</cp:revision>
  <dcterms:created xsi:type="dcterms:W3CDTF">2023-08-22T08:51:44Z</dcterms:created>
  <dcterms:modified xsi:type="dcterms:W3CDTF">2026-04-06T13:50:35Z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9C84B48968584544A80D827CEC8C1B1D</vt:lpwstr>
  </property>
  <property fmtid="{D5CDD505-2E9C-101B-9397-08002B2CF9AE}" pid="3" name="KSOProductBuildVer">
    <vt:lpwstr>1033-11.2.0.11417</vt:lpwstr>
  </property>
</Properties>
</file>