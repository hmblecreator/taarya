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925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7315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09728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18288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3891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457200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411480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475488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371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49377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48463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228600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182880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TECHNICAL CAMPUS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1005840"/>
            <a:ext cx="7680960" cy="2011680"/>
          </a:xfrm>
          <a:prstGeom prst="rect">
            <a:avLst/>
          </a:prstGeom>
          <a:solidFill>
            <a:srgbClr val="1A2252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051560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an Intelligent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RAG-Driven Architecture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Astronomical Star Catalogs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3200400" y="3154680"/>
            <a:ext cx="27432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REVIEW – I  |  ES-452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3931920" cy="1097280"/>
          </a:xfrm>
          <a:prstGeom prst="rect">
            <a:avLst/>
          </a:prstGeom>
          <a:solidFill>
            <a:srgbClr val="1A2252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490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Kumar
</a:t>
            </a:r>
            <a:r>
              <a:rPr lang="en-US" sz="10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14618002722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3931920" cy="1097280"/>
          </a:xfrm>
          <a:prstGeom prst="rect">
            <a:avLst/>
          </a:prstGeom>
          <a:solidFill>
            <a:srgbClr val="1A2252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490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Madhumita Mahapatra
</a:t>
            </a:r>
            <a:r>
              <a:rPr lang="en-US" sz="10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CSE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056632"/>
            <a:ext cx="9144000" cy="868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937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2025-2026 (Even SEM)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73152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338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Petabyte-scale sky surveys (Gaia, Vera C. Rubin) have transformed astronomy into a data-rich science with billions of stellar objects.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73152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Fragmentation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836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must navigate siloed systems — manually switching between ADQL/SQL for data retrieval and keyword searches for literature.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414016"/>
            <a:ext cx="73152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14016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 the Solution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bridges this gap by dynamically connecting LLMs to external astronomical knowledge sources.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163824"/>
            <a:ext cx="73152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63824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"co-pilot" for astronomers — capable of natural language queries, ADQL execution, and multi-step reasoning.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52160" y="777240"/>
            <a:ext cx="3017520" cy="411480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822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Sources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1280160"/>
            <a:ext cx="2834640" cy="685800"/>
          </a:xfrm>
          <a:prstGeom prst="rect">
            <a:avLst/>
          </a:prstGeom>
          <a:solidFill>
            <a:srgbClr val="1A2252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3167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Gaia DR3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1536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stellar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astrometric records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2075688"/>
            <a:ext cx="2834640" cy="685800"/>
          </a:xfrm>
          <a:prstGeom prst="rect">
            <a:avLst/>
          </a:prstGeom>
          <a:solidFill>
            <a:srgbClr val="1A2252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1122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identifications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cross-references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2871216"/>
            <a:ext cx="2834640" cy="685800"/>
          </a:xfrm>
          <a:prstGeom prst="rect">
            <a:avLst/>
          </a:prstGeom>
          <a:solidFill>
            <a:srgbClr val="1A2252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9077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127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astrophysics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0" y="3666744"/>
            <a:ext cx="2834640" cy="685800"/>
          </a:xfrm>
          <a:prstGeom prst="rect">
            <a:avLst/>
          </a:prstGeom>
          <a:solidFill>
            <a:srgbClr val="1A2252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703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39227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astronomy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(tool use)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02920" cy="123444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8686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124712"/>
            <a:ext cx="3429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interface for complex queries across SIMBAD, Gaia, and ArXiv simultaneously. Researchers must switch tools manually.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502920" cy="123444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603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240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Barriers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496312"/>
            <a:ext cx="3429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early-career researchers lack expertise in ADQL/SQL. Existing interfaces are too rigid or too complex.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20440"/>
            <a:ext cx="502920" cy="123444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9319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6118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Data Challenges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867912"/>
            <a:ext cx="3429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semantic chunking fails to capture geometric relationships needed for spatial queries (cone searches).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7772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777240"/>
            <a:ext cx="502920" cy="123444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88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8686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Relational Reasoning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1124712"/>
            <a:ext cx="3429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 (connecting Gaia observations to theoretical paper concepts) is beyond standard RAG pipelines.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48840"/>
            <a:ext cx="502920" cy="123444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5603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240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Agentic Capabilities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2496312"/>
            <a:ext cx="3429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cannot autonomously plan research strategies, select tools, or verify results against ground-truth data.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321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LlamaIndex support agentic orchestration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Astropy &amp; astroquery for Gaia/SIMBAD integration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for Knowledge Graph at scale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Q3C extensions for PostgreSQL spherical indexing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321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models (Llama 3) keep costs minimal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Gaia &amp; SIMBAD datasets are publicly accessible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ROI for academic &amp; research institutions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'time-to-science' for researchers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80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33756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accessible via standard browsers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jobs for heavy computation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for incremental deployment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from core search to full agentic 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926080"/>
            <a:ext cx="4114800" cy="34747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80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Feasibility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33756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1: Literature review, env setup, data connectors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2: Ingestion &amp; Hybrid Indexing (Vector + SQL)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3: Knowledge Graph &amp; Agentic Core development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4: Integration, UI development, Evaluation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and Significance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volumes grow exponentially, human manual analysis becomes impossible.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critical bottlenecks in modern Astroinformatics.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057400" cy="3474720"/>
          </a:xfrm>
          <a:prstGeom prst="rect">
            <a:avLst/>
          </a:prstGeom>
          <a:solidFill>
            <a:srgbClr val="1A2252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🔭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20574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920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'Data-to-Discovery' interface automating cross-referencing of catalogs and literature — revealing patterns hidden in the data deluge.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2057400" cy="3474720"/>
          </a:xfrm>
          <a:prstGeom prst="rect">
            <a:avLst/>
          </a:prstGeom>
          <a:solidFill>
            <a:srgbClr val="1A2252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514600" y="2148840"/>
            <a:ext cx="20574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651760"/>
            <a:ext cx="1920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complex astronomy data. Students query in plain English without needing ADQL or scripting skills.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2057400" cy="3474720"/>
          </a:xfrm>
          <a:prstGeom prst="rect">
            <a:avLst/>
          </a:prstGeom>
          <a:solidFill>
            <a:srgbClr val="1A2252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48840"/>
            <a:ext cx="20574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Field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651760"/>
            <a:ext cx="1920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methodological framework combining SQL precision, Vector semantics, and Graph logic for scientific AI.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1371600"/>
            <a:ext cx="2057400" cy="3474720"/>
          </a:xfrm>
          <a:prstGeom prst="rect">
            <a:avLst/>
          </a:prstGeom>
          <a:solidFill>
            <a:srgbClr val="1A2252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995160" y="2148840"/>
            <a:ext cx="20574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6600" y="2651760"/>
            <a:ext cx="1920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Recursive Language Models (RLMs) — treating massive data not as passive corpus but as an active environment the AI can navigate.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Ingestion Engine — Parse heterogeneous sources: FITS/CSV catalogs, ArXiv PDFs, and observational metadata into a unified representation.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777240"/>
            <a:ext cx="2743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60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0" y="82296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Indexing System — Combine Dense Vector Retrieval, Sparse BM25 Keyword Retrieval, and Spatial Q3C Indexing for precise &amp; fuzzy queries.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5270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527048"/>
            <a:ext cx="2743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09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157276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Constructor — Map entities (Stars, Galaxies, Papers) and relationships (Observation, Cross-Match, Citation) for multi-hop reasoning.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5270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527048"/>
            <a:ext cx="2743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709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0" y="157276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Reasoning Core — LLM controller decomposes complex queries into sub-tasks and selects appropriate tools (ADQL, Vector, Graph).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2768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276856"/>
            <a:ext cx="2743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459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232257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 Environment — Generate and run Astropy/Pandas code for on-the-fly analysis, plotting, and statistical calculations.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2768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276856"/>
            <a:ext cx="2743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459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232257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Synthesis Layer — Cross-reference LLM claims against catalog values to flag hallucinations and generate cited responses.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0" y="3026664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3026664"/>
            <a:ext cx="27432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3209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1760" y="307238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Evaluation — Validate using domain-specific benchmarks (T²-RAGBench adapted for astronomy, Recall@K for spatial retrieval).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5303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31520"/>
            <a:ext cx="5303520" cy="320040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Theoretical &amp; Methodological Contributions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731520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9786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88720" y="117957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RAG framework — grounding LLMs in external knowledge bases to mitigate hallucinations.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731520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1907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Gao et al.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88720" y="170078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taxonomy of RAG architectures: Naive → Advanced → Modular → Agentic systems.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731520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02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Edelman et al.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88720" y="22219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— graph-based retrieval capturing relational data that standard vector retrieval misses.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706624"/>
            <a:ext cx="731520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614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Catalog Survey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88720" y="27432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catalogs from positional lists to multidimensional databases with Q3C spatial indexing.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27832"/>
            <a:ext cx="731520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8269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 Report (2025)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0" y="32644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Language Models operationalizing search heuristics for iterative, deliberate reasoning.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0" y="731520"/>
            <a:ext cx="3017520" cy="310896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731520"/>
            <a:ext cx="301752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7498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Improvements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143000"/>
            <a:ext cx="73152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170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 Use — dynamic tool selection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1783080"/>
            <a:ext cx="73152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810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Indexing — Q3C + dense vectors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2423160"/>
            <a:ext cx="73152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450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Graph-Enhanced Reasoning (GraphRAG)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3063240"/>
            <a:ext cx="73152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RLM-style data interaction via Astropy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977640"/>
            <a:ext cx="8595360" cy="731520"/>
          </a:xfrm>
          <a:prstGeom prst="rect">
            <a:avLst/>
          </a:prstGeom>
          <a:solidFill>
            <a:srgbClr val="1A2252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416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Gaia DR3 archive  •  SIMBAD database  •  Curated ArXiv astrophysics papers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— 5 Core Modules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645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1645920" cy="3657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698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Engine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0574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FITS/CSV, ArXiv PDFs, entity extraction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20240" y="1965960"/>
            <a:ext cx="91440" cy="73152"/>
          </a:xfrm>
          <a:prstGeom prst="rect">
            <a:avLst/>
          </a:prstGeom>
          <a:solidFill>
            <a:srgbClr val="A0AABE"/>
          </a:solidFill>
          <a:ln w="12700">
            <a:solidFill>
              <a:srgbClr val="A0AA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051560"/>
            <a:ext cx="1645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051560"/>
            <a:ext cx="1645920" cy="36576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0698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Indexing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57400" y="20574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vectors + BM25 + Q3C spatial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0" y="1965960"/>
            <a:ext cx="91440" cy="73152"/>
          </a:xfrm>
          <a:prstGeom prst="rect">
            <a:avLst/>
          </a:prstGeom>
          <a:solidFill>
            <a:srgbClr val="A0AABE"/>
          </a:solidFill>
          <a:ln w="12700">
            <a:solidFill>
              <a:srgbClr val="A0AA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051560"/>
            <a:ext cx="1645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051560"/>
            <a:ext cx="164592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0698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9476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94760" y="20574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Stars, Papers, Catalogs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Observed, Cites, CrossMatch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94960" y="1965960"/>
            <a:ext cx="91440" cy="73152"/>
          </a:xfrm>
          <a:prstGeom prst="rect">
            <a:avLst/>
          </a:prstGeom>
          <a:solidFill>
            <a:srgbClr val="A0AABE"/>
          </a:solidFill>
          <a:ln w="12700">
            <a:solidFill>
              <a:srgbClr val="A0AA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051560"/>
            <a:ext cx="1645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1051560"/>
            <a:ext cx="1645920" cy="3657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0698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Core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32120" y="20574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planning, tool selection, execution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132320" y="1965960"/>
            <a:ext cx="91440" cy="73152"/>
          </a:xfrm>
          <a:prstGeom prst="rect">
            <a:avLst/>
          </a:prstGeom>
          <a:solidFill>
            <a:srgbClr val="A0AABE"/>
          </a:solidFill>
          <a:ln w="12700">
            <a:solidFill>
              <a:srgbClr val="A0AA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1051560"/>
            <a:ext cx="1645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1051560"/>
            <a:ext cx="16459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10698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6948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Layer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69480" y="20574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check, citation generation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291840"/>
            <a:ext cx="8595360" cy="150876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3703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88720" y="3703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ADQL/SQL &lt; 3 sec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91840" y="3703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023360" y="3703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 Search 100% precise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26480" y="3703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0" y="3703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+ UI for students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31520"/>
            <a:ext cx="4114800" cy="347472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Hardware Requirements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3840480" cy="822960"/>
          </a:xfrm>
          <a:prstGeom prst="rect">
            <a:avLst/>
          </a:prstGeom>
          <a:solidFill>
            <a:srgbClr val="E8ED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minimum for Vector DB operations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3840480" cy="822960"/>
          </a:xfrm>
          <a:prstGeom prst="rect">
            <a:avLst/>
          </a:prstGeom>
          <a:solidFill>
            <a:srgbClr val="E8ED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67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T4 (optional, for local LLM hosting)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3840480" cy="822960"/>
          </a:xfrm>
          <a:prstGeom prst="rect">
            <a:avLst/>
          </a:prstGeom>
          <a:solidFill>
            <a:srgbClr val="E8ED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73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GB SSD for Gaia catalog subsets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731520"/>
            <a:ext cx="4114800" cy="402336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731520"/>
            <a:ext cx="4114800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768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 Requirements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3840480" cy="777240"/>
          </a:xfrm>
          <a:prstGeom prst="rect">
            <a:avLst/>
          </a:prstGeom>
          <a:solidFill>
            <a:srgbClr val="1A2252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21615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1444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3.9+, FastAPI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057400"/>
            <a:ext cx="3840480" cy="777240"/>
          </a:xfrm>
          <a:prstGeom prst="rect">
            <a:avLst/>
          </a:prstGeom>
          <a:solidFill>
            <a:srgbClr val="1A2252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08483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Framework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3134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926080"/>
            <a:ext cx="3840480" cy="777240"/>
          </a:xfrm>
          <a:prstGeom prst="rect">
            <a:avLst/>
          </a:prstGeom>
          <a:solidFill>
            <a:srgbClr val="1A2252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5351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1821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(Graph)  •  PostgreSQL + Q3C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(Vector Store)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3794760"/>
            <a:ext cx="3840480" cy="777240"/>
          </a:xfrm>
          <a:prstGeom prst="rect">
            <a:avLst/>
          </a:prstGeom>
          <a:solidFill>
            <a:srgbClr val="1A2252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82219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4050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AstroPy  •  Pandas  •  Matplotlib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astroquery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diagrams from the project synopsis are included below.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06424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Placeholder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attach image here]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Retriever, KnowledgeGraph,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SQLTool, Paper, Star classes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33756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37560" y="1051560"/>
            <a:ext cx="2743200" cy="32004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106424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Placeholder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attach image here]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9000" y="2331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Query → Visualize Data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Literature Summary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40080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051560"/>
            <a:ext cx="2743200" cy="32004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106424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Placeholder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attach image here]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92240" y="2331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Diagram: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↔ AstroGraph RAG System ↔ Gaia/SIMBAD/ArXiv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26080"/>
            <a:ext cx="2743200" cy="32004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980944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Placeholder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attach image here]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Planning → Hybrid Retrieval (Vector Store, Knowledge Graph, External Catalogs) → Synthesis &amp; Verification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33756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2926080"/>
            <a:ext cx="2743200" cy="32004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2980944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2900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Placeholder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attach image here]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66360" y="367088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Detailed: LLM Decomp → Tool Router → Vector Search / Graph Traversal / ADQL Execution → Fact Check → LLM Gen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40080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2926080"/>
            <a:ext cx="2743200" cy="32004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980944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 Diagram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Placeholder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attach image here]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53046" y="3304893"/>
            <a:ext cx="803421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Query, Paper, Star, Result,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with relationships</a:t>
            </a:r>
            <a:endParaRPr lang="en-US" sz="7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56A155C-BBEB-BFF7-3089-9A7973EAD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66717"/>
            <a:ext cx="2399792" cy="99731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CA916A5-2023-6430-CBAF-2EAC7E7E8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80648"/>
            <a:ext cx="2745631" cy="95107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A4BEC70-9322-5D9B-9990-6F00275962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792" y="1435608"/>
            <a:ext cx="2649216" cy="68503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5CA62B7-5A85-1417-F1E6-14B65D1240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22" y="3246120"/>
            <a:ext cx="1751612" cy="92538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A2A28F9-16DB-7D15-6AFD-1FC9F8666D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246120"/>
            <a:ext cx="1828800" cy="13716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D82420E-CE90-FA3B-D4B7-0AB0FA37E0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273552"/>
            <a:ext cx="1848338" cy="13441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0F2B"/>
          </a:solidFill>
          <a:ln w="12700">
            <a:solidFill>
              <a:srgbClr val="0B0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— Project Timeline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594360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804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0" y="804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0" y="804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0" y="804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" y="52578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0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Validation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766560" y="5925312"/>
            <a:ext cx="1152144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5934456"/>
            <a:ext cx="1060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766560" y="6245352"/>
            <a:ext cx="987552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6254496"/>
            <a:ext cx="896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6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C92B328-AEAE-F0E6-05B4-8D14CEF32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8639"/>
            <a:ext cx="9144000" cy="32438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 (Minimum 70% Complete)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Status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Engine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1179576"/>
            <a:ext cx="4114800" cy="256032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57600" y="1179576"/>
            <a:ext cx="3724031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143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Integration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801368"/>
            <a:ext cx="4114800" cy="256032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599" y="1801368"/>
            <a:ext cx="3333263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7647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3865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ADQL/SQL Query Generator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423160"/>
            <a:ext cx="4114800" cy="256032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2423160"/>
            <a:ext cx="246888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238658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0083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(Neo4j)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26339" y="3040380"/>
            <a:ext cx="4114800" cy="256032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599" y="3044952"/>
            <a:ext cx="2989385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30083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630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Reasoning Core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666744"/>
            <a:ext cx="4114800" cy="256032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3666744"/>
            <a:ext cx="298938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3630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Frontend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4288536"/>
            <a:ext cx="4114800" cy="256032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599" y="4288536"/>
            <a:ext cx="2582985" cy="25603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4A0DF9-D3FD-F2B3-42A3-736AEB0C9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5658" cy="2571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505E6C-4D88-F138-68CE-36052491E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1750"/>
            <a:ext cx="4115658" cy="2571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0FE2E6-4D41-B2F6-D96D-C28CD1879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631" y="0"/>
            <a:ext cx="4830369" cy="2639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9AFE13-B981-A77A-60F0-518392A3C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3630" y="2254337"/>
            <a:ext cx="4830370" cy="28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49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252"/>
          </a:solidFill>
          <a:ln w="12700">
            <a:solidFill>
              <a:srgbClr val="1A2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Gao, Y., et al.: "Retrieval-Augmented Generation for Large Language Models: A Comprehensive Review"; arXiv:2312.10997, 2024.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Lewis, P., et al.: "Retrieval-Augmented Generation for Knowledge-Intensive NLP"; NeurIPS, 2020, vol. 33, pp. 9459–9474.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642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Edelman, G., et al.: "GraphRAG: Towards Graph-Based Retrieval-Augmented Generation"; arXiv:2404.16130, 2024.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841248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39696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"The Digital Architecture of the Heavens: A Comprehensive Analysis of Star Catalogs…"; arXiv:2501.00000, 2025.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1518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"A Comprehensive Report on Reasoning Language Models (RLMs)"; arXiv:2512.24601, 2025.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841248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90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Vaswani, A., et al.: "Attention is All You Need"; NeurIPS, 2017.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456432"/>
            <a:ext cx="841248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661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Brown, T., et al.: "Language Models are Few-Shot Learners"; NeurIPS, 2020.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841248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416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Koposov, S., et al.: "Q3C, a Quad Tree Cube"; Astronomy and Computing, 2010.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4407408"/>
            <a:ext cx="841248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517136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Gaia Collaboration: "Gaia Data Release 3 Documentation."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77596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880360"/>
            <a:ext cx="5486400" cy="0"/>
          </a:xfrm>
          <a:prstGeom prst="line">
            <a:avLst/>
          </a:prstGeom>
          <a:noFill/>
          <a:ln w="12700">
            <a:solidFill>
              <a:srgbClr val="1A2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Kumar  |  Roll No: 14618002722
</a:t>
            </a:r>
            <a:r>
              <a:rPr lang="en-US" sz="10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Madhumita Mahapatra
</a:t>
            </a:r>
            <a:r>
              <a:rPr lang="en-US" sz="900" dirty="0">
                <a:solidFill>
                  <a:srgbClr val="A0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Technical Campus, Greater Noida  |  Session 2025-2026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1473</Words>
  <Application>Microsoft Office PowerPoint</Application>
  <PresentationFormat>On-screen Show (16:9)</PresentationFormat>
  <Paragraphs>244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an Intelligent RAG-Driven Architecture for Astronomical Star Catalogs</dc:title>
  <dc:subject>PptxGenJS Presentation</dc:subject>
  <dc:creator>PptxGenJS</dc:creator>
  <cp:lastModifiedBy>Amit Kumar</cp:lastModifiedBy>
  <cp:revision>5</cp:revision>
  <dcterms:created xsi:type="dcterms:W3CDTF">2026-02-24T06:31:31Z</dcterms:created>
  <dcterms:modified xsi:type="dcterms:W3CDTF">2026-03-13T09:09:12Z</dcterms:modified>
</cp:coreProperties>
</file>